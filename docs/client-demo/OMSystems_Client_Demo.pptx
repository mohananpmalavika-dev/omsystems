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-365760"/>
            <a:ext cx="4754880" cy="7680960"/>
          </a:xfrm>
          <a:prstGeom prst="rect">
            <a:avLst/>
          </a:prstGeom>
          <a:solidFill>
            <a:srgbClr val="0F2A52"/>
          </a:solidFill>
          <a:ln>
            <a:solidFill>
              <a:srgbClr val="0F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23960" y="548640"/>
            <a:ext cx="2468880" cy="73152"/>
          </a:xfrm>
          <a:prstGeom prst="rect">
            <a:avLst/>
          </a:prstGeom>
          <a:solidFill>
            <a:srgbClr val="18B7C4"/>
          </a:solidFill>
          <a:ln>
            <a:solidFill>
              <a:srgbClr val="18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400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8B7C4"/>
          </a:solidFill>
          <a:ln>
            <a:solidFill>
              <a:srgbClr val="18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9037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6692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OM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713232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Security operations,
made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29000"/>
            <a:ext cx="58521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B9CFE8"/>
                </a:solidFill>
                <a:latin typeface="Aptos"/>
              </a:rPr>
              <a:t>A unified operating layer for live video, AI alerts, incident response, evidence, and fleet health.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892040"/>
            <a:ext cx="5394960" cy="18288"/>
          </a:xfrm>
          <a:prstGeom prst="rect">
            <a:avLst/>
          </a:prstGeom>
          <a:solidFill>
            <a:srgbClr val="3F5B7E"/>
          </a:solidFill>
          <a:ln>
            <a:solidFill>
              <a:srgbClr val="3F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66360"/>
            <a:ext cx="42062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9CFE8"/>
                </a:solidFill>
                <a:latin typeface="Aptos"/>
              </a:rPr>
              <a:t>Prepared for client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04688"/>
            <a:ext cx="4206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1AECD"/>
                </a:solidFill>
                <a:latin typeface="Aptos"/>
              </a:rPr>
              <a:t>06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011680" cy="9144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Aptos"/>
              </a:rPr>
              <a:t>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46120"/>
            <a:ext cx="3657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B9CFE8"/>
                </a:solidFill>
                <a:latin typeface="Aptos"/>
              </a:rPr>
              <a:t>Enterprise Surveillance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9BB2CD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9BB2C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B69E6"/>
                </a:solidFill>
                <a:latin typeface="Aptos"/>
              </a:rPr>
              <a:t>THE OPERATING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D"/>
                </a:solidFill>
                <a:latin typeface="Aptos"/>
              </a:rPr>
              <a:t>From camera feeds to operational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627A"/>
                </a:solidFill>
                <a:latin typeface="Aptos"/>
              </a:rPr>
              <a:t>Most teams have visibility. The gap is turning visibility into a repeatable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694944"/>
          </a:xfrm>
          <a:prstGeom prst="rect">
            <a:avLst/>
          </a:prstGeom>
          <a:solidFill>
            <a:srgbClr val="2B69E6"/>
          </a:solidFill>
          <a:ln>
            <a:solidFill>
              <a:srgbClr val="2B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31136"/>
            <a:ext cx="3200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Fragmented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60320"/>
            <a:ext cx="4754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Cameras, alerts, branches, and incidents live in separate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28415"/>
            <a:ext cx="109728" cy="694944"/>
          </a:xfrm>
          <a:prstGeom prst="rect">
            <a:avLst/>
          </a:prstGeom>
          <a:solidFill>
            <a:srgbClr val="F4A623"/>
          </a:solidFill>
          <a:ln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346703"/>
            <a:ext cx="3200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Alert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75887"/>
            <a:ext cx="4754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Operators need confidence, prioritization, and suppression of noise.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43983"/>
            <a:ext cx="109728" cy="694944"/>
          </a:xfrm>
          <a:prstGeom prst="rect">
            <a:avLst/>
          </a:prstGeom>
          <a:solidFill>
            <a:srgbClr val="DA4C5C"/>
          </a:solidFill>
          <a:ln>
            <a:solidFill>
              <a:srgbClr val="DA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462271"/>
            <a:ext cx="3200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Slow handoffs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791455"/>
            <a:ext cx="47548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Evidence and ownership are often assembled after the 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60720"/>
            <a:ext cx="6217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182F"/>
                </a:solidFill>
                <a:latin typeface="Aptos"/>
              </a:rPr>
              <a:t>OM Systems brings the workflow together in one operational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28799"/>
            <a:ext cx="4892040" cy="40690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resh-command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13171"/>
            <a:ext cx="4800600" cy="27003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2627A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262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B7C4"/>
                </a:solidFill>
                <a:latin typeface="Aptos"/>
              </a:rPr>
              <a:t>ONE OPERATING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See the whole environment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7C9E0"/>
                </a:solidFill>
                <a:latin typeface="Aptos"/>
              </a:rPr>
              <a:t>The Command Center gives operators a fast starting point for every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8B7C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42032"/>
            <a:ext cx="1600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Fleet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6080"/>
            <a:ext cx="1600200" cy="27432"/>
          </a:xfrm>
          <a:prstGeom prst="rect">
            <a:avLst/>
          </a:prstGeom>
          <a:solidFill>
            <a:srgbClr val="405D7F"/>
          </a:solidFill>
          <a:ln>
            <a:solidFill>
              <a:srgbClr val="405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0632" y="214884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59D6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2542032"/>
            <a:ext cx="1600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Live readiness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2926080"/>
            <a:ext cx="1600200" cy="27432"/>
          </a:xfrm>
          <a:prstGeom prst="rect">
            <a:avLst/>
          </a:prstGeom>
          <a:solidFill>
            <a:srgbClr val="405D7F"/>
          </a:solidFill>
          <a:ln>
            <a:solidFill>
              <a:srgbClr val="405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14884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F4A623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542032"/>
            <a:ext cx="1600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Action shortcuts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2926080"/>
            <a:ext cx="1600200" cy="27432"/>
          </a:xfrm>
          <a:prstGeom prst="rect">
            <a:avLst/>
          </a:prstGeom>
          <a:solidFill>
            <a:srgbClr val="405D7F"/>
          </a:solidFill>
          <a:ln>
            <a:solidFill>
              <a:srgbClr val="405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51206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9CFE8"/>
                </a:solidFill>
                <a:latin typeface="Aptos"/>
              </a:rPr>
              <a:t>A role-aware workspace for command, triage, and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64792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resh-command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93454"/>
            <a:ext cx="5212080" cy="29317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9BB2CD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9BB2C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B69E6"/>
                </a:solidFill>
                <a:latin typeface="Aptos"/>
              </a:rPr>
              <a:t>LIVE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D"/>
                </a:solidFill>
                <a:latin typeface="Aptos"/>
              </a:rPr>
              <a:t>Move from overview to live video in one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627A"/>
                </a:solidFill>
                <a:latin typeface="Aptos"/>
              </a:rPr>
              <a:t>Filter by area, branch, camera status, and operational priority while keeping the fleet in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" y="1874520"/>
            <a:ext cx="6766559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esh-live-video-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7402"/>
            <a:ext cx="6675120" cy="37547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2011680"/>
            <a:ext cx="73152" cy="658368"/>
          </a:xfrm>
          <a:prstGeom prst="rect">
            <a:avLst/>
          </a:prstGeom>
          <a:solidFill>
            <a:srgbClr val="2B69E6"/>
          </a:solidFill>
          <a:ln>
            <a:solidFill>
              <a:srgbClr val="2B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029968"/>
            <a:ext cx="3429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33D"/>
                </a:solidFill>
                <a:latin typeface="Aptos"/>
              </a:rPr>
              <a:t>Multi-camera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40864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A single workspace for live streams and camera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182112"/>
            <a:ext cx="73152" cy="658368"/>
          </a:xfrm>
          <a:prstGeom prst="rect">
            <a:avLst/>
          </a:prstGeom>
          <a:solidFill>
            <a:srgbClr val="18B7C4"/>
          </a:solidFill>
          <a:ln>
            <a:solidFill>
              <a:srgbClr val="18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200400"/>
            <a:ext cx="3429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33D"/>
                </a:solidFill>
                <a:latin typeface="Aptos"/>
              </a:rPr>
              <a:t>Operational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11296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Narrow the view by branch, zone, status, or priority.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352544"/>
            <a:ext cx="73152" cy="658368"/>
          </a:xfrm>
          <a:prstGeom prst="rect">
            <a:avLst/>
          </a:prstGeom>
          <a:solidFill>
            <a:srgbClr val="159D6F"/>
          </a:solidFill>
          <a:ln>
            <a:solidFill>
              <a:srgbClr val="15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370831"/>
            <a:ext cx="3429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233D"/>
                </a:solidFill>
                <a:latin typeface="Aptos"/>
              </a:rPr>
              <a:t>Capacity-aware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681728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Keep operator attention and viewer capacity aligned.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2627A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262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B7C4"/>
                </a:solidFill>
                <a:latin typeface="Aptos"/>
              </a:rPr>
              <a:t>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Turn detections into prioritized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7C9E0"/>
                </a:solidFill>
                <a:latin typeface="Aptos"/>
              </a:rPr>
              <a:t>AI Alerts &amp; Incidents brings camera, branch, zone, evidence, and incident context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" y="1828799"/>
            <a:ext cx="6766559" cy="42976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esh-ai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00262"/>
            <a:ext cx="6675120" cy="37547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2057400"/>
            <a:ext cx="109728" cy="640080"/>
          </a:xfrm>
          <a:prstGeom prst="rect">
            <a:avLst/>
          </a:prstGeom>
          <a:solidFill>
            <a:srgbClr val="18B7C4"/>
          </a:solidFill>
          <a:ln>
            <a:solidFill>
              <a:srgbClr val="18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75688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Confidence-aware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04872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Reduce noise before it reaches the operator.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136391"/>
            <a:ext cx="109728" cy="640080"/>
          </a:xfrm>
          <a:prstGeom prst="rect">
            <a:avLst/>
          </a:prstGeom>
          <a:solidFill>
            <a:srgbClr val="2B69E6"/>
          </a:solidFill>
          <a:ln>
            <a:solidFill>
              <a:srgbClr val="2B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154679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Context-rich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83863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Understand what happened and where.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215383"/>
            <a:ext cx="109728" cy="640080"/>
          </a:xfrm>
          <a:prstGeom prst="rect">
            <a:avLst/>
          </a:prstGeom>
          <a:solidFill>
            <a:srgbClr val="159D6F"/>
          </a:solidFill>
          <a:ln>
            <a:solidFill>
              <a:srgbClr val="15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33671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One-click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62855"/>
            <a:ext cx="31546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Promote a meaningful alert into a tracked incident.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9BB2CD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9BB2C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B69E6"/>
                </a:solidFill>
                <a:latin typeface="Aptos"/>
              </a:rPr>
              <a:t>RESPONSE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D"/>
                </a:solidFill>
                <a:latin typeface="Aptos"/>
              </a:rPr>
              <a:t>From alert to accountable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627A"/>
                </a:solidFill>
                <a:latin typeface="Aptos"/>
              </a:rPr>
              <a:t>The platform keeps the response chain connected, auditable, and ready for handoff.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B69E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07792"/>
            <a:ext cx="1737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83280"/>
            <a:ext cx="17830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AI or system signal enters the operating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980944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9BAEC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1488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4A62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907792"/>
            <a:ext cx="1737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3383280"/>
            <a:ext cx="17830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Operator validates severity, context, and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980944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9BAEC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1488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4C5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907792"/>
            <a:ext cx="1737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3383280"/>
            <a:ext cx="17830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Create ownership, incident workflow, and next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980944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9BAEC3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1488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59D6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907792"/>
            <a:ext cx="1737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233D"/>
                </a:solidFill>
                <a:latin typeface="Aptos"/>
              </a:rP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83280"/>
            <a:ext cx="17830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Close with outcome, evidence, and audit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1772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resh-alert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860" y="4663440"/>
            <a:ext cx="2032000" cy="1143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17920" y="4617720"/>
            <a:ext cx="516635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resh-security-op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4663440"/>
            <a:ext cx="2032000" cy="1143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2627A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262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B7C4"/>
                </a:solidFill>
                <a:latin typeface="Aptos"/>
              </a:rPr>
              <a:t>TRUST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Make every action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7C9E0"/>
                </a:solidFill>
                <a:latin typeface="Aptos"/>
              </a:rPr>
              <a:t>Operational confidence depends on evidence, auditability, and a clear system of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91440" cy="621792"/>
          </a:xfrm>
          <a:prstGeom prst="rect">
            <a:avLst/>
          </a:prstGeom>
          <a:solidFill>
            <a:srgbClr val="18B7C4"/>
          </a:solidFill>
          <a:ln>
            <a:solidFill>
              <a:srgbClr val="18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148840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Evidence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68880"/>
            <a:ext cx="4206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Snapshots, clips, and alert context travel with the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136392"/>
            <a:ext cx="91440" cy="621792"/>
          </a:xfrm>
          <a:prstGeom prst="rect">
            <a:avLst/>
          </a:prstGeom>
          <a:solidFill>
            <a:srgbClr val="2B69E6"/>
          </a:solidFill>
          <a:ln>
            <a:solidFill>
              <a:srgbClr val="2B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136392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56432"/>
            <a:ext cx="4206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Role-aware views keep operators focused on their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23944"/>
            <a:ext cx="91440" cy="621792"/>
          </a:xfrm>
          <a:prstGeom prst="rect">
            <a:avLst/>
          </a:prstGeom>
          <a:solidFill>
            <a:srgbClr val="159D6F"/>
          </a:solidFill>
          <a:ln>
            <a:solidFill>
              <a:srgbClr val="15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123944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Fleet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443983"/>
            <a:ext cx="4206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9CFE8"/>
                </a:solidFill>
                <a:latin typeface="Aptos"/>
              </a:rPr>
              <a:t>Camera, storage, connectivity, and recorder status stay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37360"/>
            <a:ext cx="5394959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resh-evidence-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40305"/>
            <a:ext cx="5303520" cy="29832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9BB2CD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9BB2C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B69E6"/>
                </a:solidFill>
                <a:latin typeface="Aptos"/>
              </a:rPr>
              <a:t>DEMO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D"/>
                </a:solidFill>
                <a:latin typeface="Aptos"/>
              </a:rPr>
              <a:t>A practical path to operational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2627A"/>
                </a:solidFill>
                <a:latin typeface="Aptos"/>
              </a:rPr>
              <a:t>Start with visibility. Add intelligence. Standardize response. Scale with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971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95728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B69E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98064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D"/>
                </a:solidFill>
                <a:latin typeface="Aptos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17296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Live fleet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148840"/>
            <a:ext cx="2971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95728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B7C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98064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D"/>
                </a:solidFill>
                <a:latin typeface="Aptos"/>
              </a:rP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7296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Prioritized AI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48840"/>
            <a:ext cx="2971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2395728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59D6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798064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D"/>
                </a:solidFill>
                <a:latin typeface="Aptos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317296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2627A"/>
                </a:solidFill>
                <a:latin typeface="Aptos"/>
              </a:rPr>
              <a:t>Connected incident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36592"/>
            <a:ext cx="10607040" cy="18288"/>
          </a:xfrm>
          <a:prstGeom prst="rect">
            <a:avLst/>
          </a:prstGeom>
          <a:solidFill>
            <a:srgbClr val="CDD9E7"/>
          </a:solidFill>
          <a:ln>
            <a:solidFill>
              <a:srgbClr val="CD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B69E6"/>
                </a:solidFill>
                <a:latin typeface="Aptos"/>
              </a:rPr>
              <a:t>Suggested next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13248"/>
            <a:ext cx="7772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7182F"/>
                </a:solidFill>
                <a:latin typeface="Aptos"/>
              </a:rPr>
              <a:t>Choose one branch or operational workflow for a focused pilot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257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2400" b="1">
                <a:solidFill>
                  <a:srgbClr val="07182F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2627A"/>
                </a:solidFill>
                <a:latin typeface="Aptos"/>
              </a:rPr>
              <a:t>OM Systems  /  Security Operations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262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