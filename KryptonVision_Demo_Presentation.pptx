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2926080" cy="4114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KRYPTONLOGIC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 Black"/>
              </a:defRPr>
            </a:pPr>
            <a:r>
              <a:t>KRYPTONVISION</a:t>
            </a:r>
          </a:p>
          <a:p>
            <a:pPr>
              <a:spcBef>
                <a:spcPts val="800"/>
              </a:spcBef>
              <a:defRPr sz="2000">
                <a:solidFill>
                  <a:srgbClr val="00D2FF"/>
                </a:solidFill>
                <a:latin typeface="Arial"/>
              </a:defRPr>
            </a:pPr>
            <a:r>
              <a:t>Next-Generation Enterprise AI Vision &amp; Unified Video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Autonomous Real-Time Threat Detection, Low-Latency Streaming, Visual Automation Rules, and Regulatory Compliance for Banking, NBFCs, Retail &amp; Critical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324612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Sub-Second Streaming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Ultra-low-latency HLS/WebRTC with synced multi-camera playback.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754880"/>
            <a:ext cx="324612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8920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Visual Rule Automation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No-code geometric zone designer with 36+ pre-seeded banking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754880"/>
            <a:ext cx="324612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8920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Anti-Storm AI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Zero alarm fatigue with Redis fencing tokens &amp; state cooldowns.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MARKET CHALLENGES &amp; OPERATIONAL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Critical Security Dilemma: Why Traditional CCTV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9659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95% Footage Unmonitored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  <a:latin typeface="Arial"/>
              </a:defRPr>
            </a:pPr>
            <a:r>
              <a:t>HUMAN ATTENTION FAILURE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After just 20 minutes of continuous monitoring, security guards miss over 95% of active scene anomalies due to severe visual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10972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Alarm Storms &amp; Noise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  <a:latin typeface="Arial"/>
              </a:defRPr>
            </a:pPr>
            <a:r>
              <a:t>HIGH FALSE POSITIVE RATES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Legacy motion sensors trigger dozens of false alerts for shadows, insects, or light shifts, forcing SOC operators to disable notifications entirely.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57800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9728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Hours Lost in Forensics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  <a:latin typeface="Arial"/>
              </a:defRPr>
            </a:pPr>
            <a:r>
              <a:t>DELAYED INCIDENT RESOLUTION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Scrubbing through hours of unsynchronized video across isolated cameras delays incident response, evidence gathering, and police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1965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40480"/>
            <a:ext cx="109728" cy="1965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D2FF"/>
                </a:solidFill>
                <a:latin typeface="Arial"/>
              </a:defRPr>
            </a:pPr>
            <a:r>
              <a:t>Regulatory Non-Compliance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  <a:latin typeface="Arial"/>
              </a:defRPr>
            </a:pPr>
            <a:r>
              <a:t>ZERO AUDIT TRAIL ENFORCEMENT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High-security facilities (Gold Loans, Banks, Vaults) struggle to prove dual-custody access, perimeter integrity, and continuous retention.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Arial"/>
              </a:defRPr>
            </a:pPr>
            <a:r>
              <a:t>THE KRYPTONVISION SOLUTION: Transform passive, forensic-only cameras into an active, intelligent, deterministic defense and compliance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END-TO-END DISTRIBUTED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KryptonVision High-Assurance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1. Edge Reverse Proxy (Caddy / TLS)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Enterprise ingress with automatic SSL/TLS termination, rate limiting, and HTTP/2 multiplexing for smooth video transport.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2. High-Performance Media Gateway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Microservices handling ONVIF/RTSP discovery, sub-second HLS transmuxing, and WebRTC streaming across 100+ concurrent cameras.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3. Autonomous AI Analytics Engine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GPU/NPU-accelerated neural networks (YOLOv8, background subtraction) running real-time point-in-polygon &amp; tripwire crossing.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4. Distributed Redis 7 &amp; PostgreSQL 16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Zero process-local state: Stream leases, viewer allocations, and camera ownership coordinated with epoch-based distributed locks.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5. Dual-Tier Storage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POSIX/NVMe edge recording vault for ultra-fast scrubbing + automated tiered retention to S3/NFS/SMB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54480"/>
            <a:ext cx="56692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5303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DATA &amp; EVALUATION PIPELINE</a:t>
            </a:r>
          </a:p>
          <a:p>
            <a:pPr>
              <a:spcBef>
                <a:spcPts val="100"/>
              </a:spcBef>
              <a:defRPr sz="1000" b="1">
                <a:solidFill>
                  <a:srgbClr val="F8FAFC"/>
                </a:solidFill>
                <a:latin typeface="Consolas"/>
              </a:defRPr>
            </a:pPr>
            <a:r>
              <a:t>[RTSP / ONVIF IP Streams]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Multi-brand camera feeds ingested securely at edge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00D2FF"/>
                </a:solidFill>
                <a:latin typeface="Consolas"/>
              </a:defRPr>
            </a:pPr>
            <a:r>
              <a:t>v  [AI Detectors: YOLOv8 / Edge NPU]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Detects Persons, Vehicles, Bags, PPE, and Scene Tampering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F8FAFC"/>
                </a:solidFill>
                <a:latin typeface="Consolas"/>
              </a:defRPr>
            </a:pPr>
            <a:r>
              <a:t>v  [Persistent Multi-Object Tracker]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Assigns persistent Track IDs across frames for temporal continuity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00D2FF"/>
                </a:solidFill>
                <a:latin typeface="Consolas"/>
              </a:defRPr>
            </a:pPr>
            <a:r>
              <a:t>v  [Geometric Zone Engine (Ray-Casting)]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Calculates Point-in-Polygon (PIP) &amp; directional line crossings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F8FAFC"/>
                </a:solidFill>
                <a:latin typeface="Consolas"/>
              </a:defRPr>
            </a:pPr>
            <a:r>
              <a:t>v  [Compound Rule &amp; Schedule Evaluator]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Evaluates Boolean conditions (AND/OR/NOT) against IST operating windows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v  [Anti-Storm Deduplication &amp; Cooldown]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Redis fencing tokens suppress spam; updates evidence clips continuously</a:t>
            </a:r>
          </a:p>
          <a:p>
            <a:pPr>
              <a:spcBef>
                <a:spcPts val="100"/>
              </a:spcBef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   |</a:t>
            </a:r>
          </a:p>
          <a:p>
            <a:pPr>
              <a:spcBef>
                <a:spcPts val="100"/>
              </a:spcBef>
              <a:defRPr sz="1000" b="1">
                <a:solidFill>
                  <a:srgbClr val="F43F5E"/>
                </a:solidFill>
                <a:latin typeface="Consolas"/>
              </a:defRPr>
            </a:pPr>
            <a:r>
              <a:t>v  [Multi-Action Dispatcher]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   └─ Dispatches SOC alerts, relays sirens, pushes webhooks &amp; initiates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CORE USER EXPERIENCE — REAL-TIME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Unified Command Center &amp; Live Video Wall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Sub-Second Streaming Latency (&lt;400ms)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Live feeds are served with sub-second response times using WebRTC and low-latency HLS transmuxing.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Dynamic Matrix &amp; Video Wall Grids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Seamless switching between 1x1, 2x2, 3x3, 4x4, and custom camera wall matrices across multiple monitor outputs.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Real-Time AI Bounding Overlays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Live visual indicators, bounding boxes, confidence metrics, and active zone overlays directly on the canvas.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Instant PTZ &amp; Camera Controls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Pan, Tilt, and Zoom with presets, instant optical zoom, and one-click forensic snapshot captures.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Edge Fault Auto-Recovery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Built-in stream heartbeat detection with zero-flicker automatic reconnection if network bandwidth dips.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03-live-video-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KryptonVision Live Multi-Stream Video Wall (/surveillance/live)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FORENSIC INVESTIGATION &amp; EVIDENCE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Multi-Camera Synchronized Playback &amp; Time-Travel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Synchronized Multi-Angle Scrubbing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Scrub up to 16 camera angles simultaneously in perfect millisecond synchronization to follow suspect movement across doors and corridors.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Multi-Color Activity Heatmap Timeline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Visual timeline bar instantly differentiates continuous recordings, motion triggers, and high-severity AI compliance alerts.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Sub-Second Forensic Seek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Jump directly to the exact timestamp of an incident with zero buffer lag, eliminating hours of manual footage scanning.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Variable Speed &amp; Jog-Shuttle Control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Fluid playback speeds from 0.25x slow-motion review up to 32x high-speed scanning with single-frame jog-stepping.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Instant Evidence Clipping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Select in/out timeline points directly from the playback view to export digitally signed MP4/MKV evidence clips.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04-synced-play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Synchronized Multi-Camera Playback &amp; Visual Heatmap (/surveillance/playback)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NO-CODE CONFIGURATION &amp; AUTOMATION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Visual Zone Designer &amp; Compound Rule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No-Code Geometric Drawing Canvas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Administrators can draw Polygons (vaults, counters, restricted zones) and Tripwires (entry lines, barriers) directly over live video.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Resolution-Independent Normalized Coordinates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Zones use normalized coordinates (0.0 to 1.0), ensuring detection accuracy even if camera resolution or aspect ratio shifts.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Compound Boolean Logic (AND / OR / NOT)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Eliminates false triggers by chaining multi-sensor conditions (e.g., PERSON_COUNT &gt; 2 AND CASH_DRAWER == OPEN).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Timezone-Aware Operational Schedules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Schedules adhere to IST (Asia/Kolkata) with business-hours, after-hours, 24x7, and branch opening/closing dual custody windows.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Shadow Mode &amp; Rule Simulation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Test rules against historical video archives in a safe simulation lab before promoting them to live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10-ai-rules-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Visual Zone Designer &amp; Rule Configuration Workspace (/analytics/rules)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ELIMINATING ALARM FATIGUE IN THE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Anti-Storm Deduplication &amp; Intelligent Alert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• The Alert Storm Problem Solved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Traditional AI systems generate 1,500 redundant alerts/min if a person lingers in a zone. KryptonVision eliminates this completely.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• Distributed Redis Fencing Tokens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Guarantees that multiple cluster nodes never evaluate the same frame track concurrently, preventing race condition duplicates.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• Configurable Cooldown State Machine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Rules enter an intelligent cooldown (60s–300s) after firing. Ongoing tracking clips are updated silently without spamming sirens.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• Persistence Duration Filter (durationMs)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Conditions must hold true continuously for a defined duration (e.g., 3s) before firing, eliminating flickers and false alarms.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• Multi-Channel Instant Escalation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Configurable dispatch matrix: SOC dashboard alerts, local relay sirens, webhooks, Telegram/WhatsApp alerts, and automated phone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06-alert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SOC Alert Operations &amp; Triage Management (/operations/alerts)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36+ READY-TO-USE REGULATORY RULE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Pre-Seeded Enterprise &amp; Banking Compliance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Arial"/>
              </a:defRPr>
            </a:pPr>
            <a:r>
              <a:t>Vault &amp; Strongroom Security  [NBFC-R01 to R07]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Dual-Control Solitary Access Alarm (Person count == 1 inside vault)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Vault Over-Occupancy Alarm (&gt;2 persons in strongroom)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Strongroom Door Open Too Long (&gt;180s without closure)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After-Hours Vault Motion Intrusion (Critical severity alert)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Unattended Open Vault (Door unlocked with 0 personnel present)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Pledge Counters &amp; Cash Halls  [NBFC-R08 to R14]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Customer Crossing Teller Acrylic Barrier line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Cash Counter Crowd Surge (&gt;5 persons in counter area)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Unattended Cash Counter (Drawer unlocked with teller away &gt;120s)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Teller Hall Loitering (&gt;15 mins dwell time without transaction)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Queue SLA Breach Alert (Queue length &gt;8 persons for &gt;3 mins)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Logistics &amp; Cash Van Security  [NBFC-R15 to R19]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Cash Van Arrival Unmonitored (Armed guard missing from bay)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Cash Transfer Line Crossing (Corridor unauthorized intrusion)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Cash Box Left Unattended in Bay (&gt;30s stationary package)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Cash Van Extended Dwell Time (&gt;30 mins in transfer bay)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Emergency Corridor &amp; Exit Route Obstruction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Perimeter &amp; Anti-Tamper Integrity  [NBFC-R25 to R36]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Camera Spray / Blinding / Rapid Occlusion (&lt;5s alert)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Camera Lens Displacement / Defocusing attempt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Continuous Recording Gap Exceeds SLA (&gt;30s gap detected)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Branch Shutter / Roof / Skylight Tampering attempt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• Edge Gateway Offline Heartbeat Interruption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VERIFIABLE CHAIN OF CUSTODY &amp; REGULATORY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Incident Response &amp; Tamper-Proof Evidence Vault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Arial"/>
              </a:defRPr>
            </a:pPr>
            <a:r>
              <a:t>• End-to-End Incident Lifecycle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Seamless progression from live Alert -&gt; Operator Acknowledgment -&gt; Evidence Annotation -&gt; Police / Legal Escalation.</a:t>
            </a:r>
          </a:p>
          <a:p>
            <a:pPr>
              <a:spcBef>
                <a:spcPts val="1000"/>
              </a:spcBef>
              <a:defRPr sz="1200" b="1">
                <a:solidFill>
                  <a:srgbClr val="F43F5E"/>
                </a:solidFill>
                <a:latin typeface="Arial"/>
              </a:defRPr>
            </a:pPr>
            <a:r>
              <a:t>• Cryptographic Evidence Packaging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One-click export of court-admissible evidence bundles sealed with SHA-256 hashes and digital watermarks to prevent tampering.</a:t>
            </a:r>
          </a:p>
          <a:p>
            <a:pPr>
              <a:spcBef>
                <a:spcPts val="1000"/>
              </a:spcBef>
              <a:defRPr sz="1200" b="1">
                <a:solidFill>
                  <a:srgbClr val="F43F5E"/>
                </a:solidFill>
                <a:latin typeface="Arial"/>
              </a:defRPr>
            </a:pPr>
            <a:r>
              <a:t>• Immutable Audit Ledger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Every operator interaction, stream view, PTZ motion, configuration change, and video export is written to an immutable log.</a:t>
            </a:r>
          </a:p>
          <a:p>
            <a:pPr>
              <a:spcBef>
                <a:spcPts val="1000"/>
              </a:spcBef>
              <a:defRPr sz="1200" b="1">
                <a:solidFill>
                  <a:srgbClr val="F43F5E"/>
                </a:solidFill>
                <a:latin typeface="Arial"/>
              </a:defRPr>
            </a:pPr>
            <a:r>
              <a:t>• Operator Feedback Loop (Precision Tuning)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Operators mark detections as True Positive or False Alarm, providing ground-truth data for continuous AI model retraining.</a:t>
            </a:r>
          </a:p>
          <a:p>
            <a:pPr>
              <a:spcBef>
                <a:spcPts val="1000"/>
              </a:spcBef>
              <a:defRPr sz="1200" b="1">
                <a:solidFill>
                  <a:srgbClr val="F43F5E"/>
                </a:solidFill>
                <a:latin typeface="Arial"/>
              </a:defRPr>
            </a:pPr>
            <a:r>
              <a:t>• External Regulatory Reporting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Generates compliant compliance PDF/CSV reports ready for RBI / Internal Audit inspection within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07-incident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Incident Response &amp; Evidence Packaging (/operations/incidents)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INFRASTRUCTURE VISIBILITY &amp; PROACTIVE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Central Device Health, Diagnostics &amp; Storage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Live Stream Quality Telemetry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Continuous real-time monitoring of camera FPS, bitrate, jitter, dropped frames, and packet loss across every branch.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Automated Camera Clock Drift Alerts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Alerts if a camera's hardware clock diverges from the server NTP by &gt;1000ms, safeguarding legal timestamp validity.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Automated Maintenance Workorders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Automatically flags offline cameras, degraded streams, or lens obstructions, generating tickets for field service teams.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Storage Retention &amp; Capacity Guard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Monitors storage disk volumes. Automatically triggers retention alerts when volume space drops below 15%.</a:t>
            </a:r>
          </a:p>
          <a:p>
            <a:pPr>
              <a:spcBef>
                <a:spcPts val="1000"/>
              </a:spcBef>
              <a:defRPr sz="1200" b="1">
                <a:solidFill>
                  <a:srgbClr val="00D2FF"/>
                </a:solidFill>
                <a:latin typeface="Arial"/>
              </a:defRPr>
            </a:pPr>
            <a:r>
              <a:t>• Multi-Tier Storage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Optimizes cost by writing high-speed recordings to local SSDs while automatically transferring cold archives to cloud S3/NAS.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11-camera-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Central Camera Health &amp; Diagnostic Diagnostics (/maintenance/cameras)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SCALABLE ORGANIZATIONAL MANAGEMENT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Multi-Tenant Hierarchy &amp; Enterprise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Hierarchical Organizational Tree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Native multi-tier hierarchy: Tenant (Org) -&gt; Region (North/South) -&gt; Branch (Indiranagar) -&gt; Zone (Vault/Counter) -&gt; Camera.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Strict Scoped Access (RBAC &amp; ABAC)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Predefined banking roles: Super Admin, Tenant Admin, SOC Operator, Branch Manager, Auditor, and Maintenance Engineer.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Branch Onboarding Wizard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Zero-friction branch provisioning with automated ONVIF network discovery and bulk camera channel assignment in minutes.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Device-Agnostic Interoperability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No proprietary camera lock-in. Connects seamlessly with any ONVIF Profile S/G/T or standard RTSP camera (Hikvision, Dahua, Axis, Hanwha, CP Plus).</a:t>
            </a:r>
          </a:p>
          <a:p>
            <a:pPr>
              <a:spcBef>
                <a:spcPts val="1000"/>
              </a:spcBef>
              <a:defRPr sz="1200" b="1">
                <a:solidFill>
                  <a:srgbClr val="3B82F6"/>
                </a:solidFill>
                <a:latin typeface="Arial"/>
              </a:defRPr>
            </a:pPr>
            <a:r>
              <a:t>• Immutable Security Auditing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Every login, token grant, permission change, and camera configuration update is recorded forever in an append-only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54480"/>
            <a:ext cx="5973775" cy="4297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013-organization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5699455" cy="3562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897880"/>
            <a:ext cx="5973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Organization &amp; Multi-Branch Hierarchy Administration (/admin/organization)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THE QUANTIFIABLE VALUE DELIVERED BY KRYPTONVISION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Measurable Business ROI &amp; Operational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3474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1945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&gt;92% Reduction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IN FALSE ALARMS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Compound boolean rules and intelligent cooldown state machines filter out environmental noise, letting SOC operators focus on genuine security breaches.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3474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1945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D2FF"/>
                </a:solidFill>
                <a:latin typeface="Arial"/>
              </a:defRPr>
            </a:pPr>
            <a:r>
              <a:t>80% Faster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INCIDENT INVESTIGATION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Multi-camera synchronized playback and visual event heatmaps slash video forensic review times from hours to just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3474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21945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100% Compliance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AUDIT ADHERENCE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Automated dual-custody verification, strongroom duration controls, and tamper logging ensure effortless regulatory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3474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874520"/>
            <a:ext cx="21945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4x Operator Scale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COST OPTIMIZATION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 single SOC operator can effectively monitor over 150+ cameras with intelligent automated triage, versus only 20-30 on traditional VMS.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6289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TOTAL COST OF OWNERSHIP (TCO) ADVANTAGE: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KryptonVision works with your existing IP camera infrastructure without requiring expensive proprietary hardware replacements, slashing initial capital expenditures (CAPEX) while drastically reducing ongoing security staffing OPEX.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STRUCTURED AGENDA FOR TODAY'S PRODUCT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Demonstration Walkthrough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777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37160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64208"/>
            <a:ext cx="1014984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Step 1: Central Command &amp; Live Video Wall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Experience sub-second multi-camera video streaming, dynamic grid arrangement, and instant PTZ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10728655" cy="777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3716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1014984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2: Visual Zone Designer &amp; Rule Creation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Watch how simple it is to draw a polygon zone over a live stream and activate a compound security rule in under 60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728655" cy="777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13716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93008"/>
            <a:ext cx="1014984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Step 3: Real-Time Threat Trigger &amp; Anti-Storm Alert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Observe live event detection in action with intelligent deduplication, cooldown suppression, and automated dispatch.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728655" cy="777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1371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8"/>
            <a:ext cx="1014984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Step 4: Synchronized Playback &amp; Forensic Investigation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Seamlessly scrub through multi-angle historical video, inspect heatmap markers, and jump precisely to breach moments.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728655" cy="777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37160" cy="777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1014984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Step 5: Evidence Packaging &amp; Audit Integrity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Generate a digitally signed, tamper-proof evidence bundle with cryptographic SHA-256 hash sealing.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ARCHITECTED TO FIT YOUR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Deployment Flexibility &amp; System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KryptonLogic  |  KryptonVision AI Video Platform  |  Confidential Client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290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FF"/>
                </a:solidFill>
                <a:latin typeface="Arial"/>
              </a:defRPr>
            </a:pPr>
            <a:r>
              <a:t>On-Premises Edge Appliance</a:t>
            </a:r>
          </a:p>
          <a:p>
            <a:pPr>
              <a:spcBef>
                <a:spcPts val="300"/>
              </a:spcBef>
              <a:defRPr sz="950" b="1">
                <a:solidFill>
                  <a:srgbClr val="94A3B8"/>
                </a:solidFill>
                <a:latin typeface="Arial"/>
              </a:defRPr>
            </a:pPr>
            <a:r>
              <a:t>HIGHEST SECURITY &amp; PRIVACY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Deploys directly on local branch hardware or edge AI microservers.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Zero continuous cloud bandwidth requirement.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Local video storage with POSIX NVMe indexing.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Ideal for high-security banking branches and air-gapped vaults.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429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Arial"/>
              </a:defRPr>
            </a:pPr>
            <a:r>
              <a:t>Hybrid Enterprise Architecture</a:t>
            </a:r>
          </a:p>
          <a:p>
            <a:pPr>
              <a:spcBef>
                <a:spcPts val="300"/>
              </a:spcBef>
              <a:defRPr sz="950" b="1">
                <a:solidFill>
                  <a:srgbClr val="94A3B8"/>
                </a:solidFill>
                <a:latin typeface="Arial"/>
              </a:defRPr>
            </a:pPr>
            <a:r>
              <a:t>BEST OF BOTH WORLDS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Edge inference &amp; local recording at branch level.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Central cloud management for SOC command center &amp; compliance.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Low WAN bandwidth consumption with metadata-only synchronization.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Clustered multi-branch aggregation across regional offices.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64592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87452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Fully Cloud-Managed VMS</a:t>
            </a:r>
          </a:p>
          <a:p>
            <a:pPr>
              <a:spcBef>
                <a:spcPts val="300"/>
              </a:spcBef>
              <a:defRPr sz="950" b="1">
                <a:solidFill>
                  <a:srgbClr val="94A3B8"/>
                </a:solidFill>
                <a:latin typeface="Arial"/>
              </a:defRPr>
            </a:pPr>
            <a:r>
              <a:t>MAXIMUM SCALABILITY &amp; AGILITY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Direct secure gateway streaming to cloud infrastructure (AWS/GCP/Azure).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Unlimited tiered storage retention with automatic S3 archival.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Global accessibility from any authenticated device or SOC terminal.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• Instant zero-maintenance updates and elastic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KRYPTONLOGIC TECHNOLOGIES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F8FAFC"/>
                </a:solidFill>
                <a:latin typeface="Arial Black"/>
              </a:defRPr>
            </a:pPr>
            <a:r>
              <a:t>Ready to Transform Your Surveillance?</a:t>
            </a:r>
          </a:p>
          <a:p>
            <a:pPr algn="ctr">
              <a:spcBef>
                <a:spcPts val="10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KryptonVision upgrades existing video surveillance networks into an intelligent, proactive, and compliant security command ecosystem.</a:t>
            </a:r>
          </a:p>
          <a:p>
            <a:pPr algn="ctr">
              <a:spcBef>
                <a:spcPts val="20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RECOMMENDED NEXT STEPS: 48-HOUR PILOT / PROOF-OF-CONCEPT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Deploy KryptonVision on 5-10 existing cameras in your live environment with zero disruption. Experience real-time alerts, visual rules, and synchronized playback within 48 hours.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00D2FF"/>
                </a:solidFill>
                <a:latin typeface="Arial"/>
              </a:defRPr>
            </a:pPr>
            <a:r>
              <a:t>Thank You! Let's Proceed to the Live Product Demo &amp; Q/A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